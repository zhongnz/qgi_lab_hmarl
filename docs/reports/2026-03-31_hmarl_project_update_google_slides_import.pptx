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0" y="731520"/>
            <a:ext cx="2971800" cy="1965960"/>
          </a:xfrm>
          <a:prstGeom prst="roundRect">
            <a:avLst/>
          </a:prstGeom>
          <a:solidFill>
            <a:srgbClr val="E5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641080" y="3063240"/>
            <a:ext cx="2468880" cy="1325880"/>
          </a:xfrm>
          <a:prstGeom prst="roundRect">
            <a:avLst/>
          </a:prstGeom>
          <a:solidFill>
            <a:srgbClr val="FD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731520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42336"/>
                </a:solidFill>
                <a:latin typeface="Aptos Display"/>
              </a:rPr>
              <a:t>Hierarchical Multi-Agent Reinforcement Learning for Congestion-Aware Maritime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858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46275"/>
                </a:solidFill>
                <a:latin typeface="Aptos"/>
              </a:rPr>
              <a:t>Project update: simulator background, reward redesign, continuous + ground_truth final run path, current progress, and next steps.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200400"/>
            <a:ext cx="6995160" cy="1143000"/>
          </a:xfrm>
          <a:prstGeom prst="round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74720"/>
            <a:ext cx="6537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FFFAF2"/>
                </a:solidFill>
                <a:latin typeface="Aptos"/>
              </a:rPr>
              <a:t>We now have a clean final path for the project: continuous scheduling, reliable forecasts, strong diagnostics, and a reproducible local run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987552"/>
            <a:ext cx="233172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46275"/>
                </a:solidFill>
                <a:latin typeface="Aptos"/>
              </a:rPr>
              <a:t>SPRING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298448"/>
            <a:ext cx="23317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4385C"/>
                </a:solidFill>
                <a:latin typeface="Aptos Display"/>
              </a:rPr>
              <a:t>Independent study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682496"/>
            <a:ext cx="2331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Supervisor:
Prof. Amine Aboussalah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3364992"/>
            <a:ext cx="18288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MARCH 31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657600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385C"/>
                </a:solidFill>
                <a:latin typeface="Aptos"/>
              </a:rPr>
              <a:t>Final path:
continuous + GT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074920"/>
            <a:ext cx="2834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5239512"/>
            <a:ext cx="24688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46275"/>
                </a:solidFill>
                <a:latin typeface="Aptos"/>
              </a:rPr>
              <a:t>RESEARCH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513831"/>
            <a:ext cx="2468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385C"/>
                </a:solidFill>
                <a:latin typeface="Aptos Display"/>
              </a:rPr>
              <a:t>HMARL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5925312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275"/>
                </a:solidFill>
                <a:latin typeface="Aptos"/>
              </a:rPr>
              <a:t>Coordinator, vessel, and port agents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5074920"/>
            <a:ext cx="30632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04487" y="5239512"/>
            <a:ext cx="2697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46275"/>
                </a:solidFill>
                <a:latin typeface="Aptos"/>
              </a:rPr>
              <a:t>CURRENT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4487" y="5513831"/>
            <a:ext cx="26974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385C"/>
                </a:solidFill>
                <a:latin typeface="Aptos Display"/>
              </a:rPr>
              <a:t>Cont. + GT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7" y="5925312"/>
            <a:ext cx="2697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275"/>
                </a:solidFill>
                <a:latin typeface="Aptos"/>
              </a:rPr>
              <a:t>Continuous environment with reliable forecasts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95160" y="5074920"/>
            <a:ext cx="269748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8" y="5239512"/>
            <a:ext cx="23317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546275"/>
                </a:solidFill>
                <a:latin typeface="Aptos"/>
              </a:rPr>
              <a:t>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5513831"/>
            <a:ext cx="23317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4385C"/>
                </a:solidFill>
                <a:latin typeface="Aptos Display"/>
              </a:rPr>
              <a:t>12 slides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6328" y="59253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46275"/>
                </a:solidFill>
                <a:latin typeface="Aptos"/>
              </a:rPr>
              <a:t>Presentation-ready update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Why this project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80160"/>
            <a:ext cx="5669280" cy="5166360"/>
          </a:xfrm>
          <a:prstGeom prst="roundRect">
            <a:avLst/>
          </a:prstGeom>
          <a:solidFill>
            <a:srgbClr val="EEF6FB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44751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Operational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>
                <a:solidFill>
                  <a:srgbClr val="142336"/>
                </a:solidFill>
                <a:latin typeface="Aptos"/>
              </a:rPr>
              <a:t>Ports have limited berth capacity and nonzero service time.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42336"/>
                </a:solidFill>
                <a:latin typeface="Aptos"/>
              </a:rPr>
              <a:t>Vessels trade off speed, fuel burn, emissions, and lateness.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42336"/>
                </a:solidFill>
                <a:latin typeface="Aptos"/>
              </a:rPr>
              <a:t>Poor local choices can create downstream congestion and idle capacity elsewhere.</a:t>
            </a:r>
          </a:p>
          <a:p>
            <a:pPr>
              <a:spcAft>
                <a:spcPts val="600"/>
              </a:spcAft>
            </a:pPr>
            <a:r>
              <a:rPr sz="1900">
                <a:solidFill>
                  <a:srgbClr val="142336"/>
                </a:solidFill>
                <a:latin typeface="Aptos"/>
              </a:rPr>
              <a:t>The system is naturally multi-agent, asynchronous, and resource-constrained.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1280160"/>
            <a:ext cx="2423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93407" y="1444751"/>
            <a:ext cx="2057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783080"/>
            <a:ext cx="1965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Too many arrivals to one port can create queueing and delay at the whole network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280160"/>
            <a:ext cx="2423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99448" y="1444751"/>
            <a:ext cx="2057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1965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Faster sailing can improve timing but increases fuel use, emissions, and operating cost.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3840480"/>
            <a:ext cx="2423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407" y="4005072"/>
            <a:ext cx="2057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4343400"/>
            <a:ext cx="1965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Ports and vessels need global guidance, not only local reactive behavior.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3840480"/>
            <a:ext cx="2423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99448" y="4005072"/>
            <a:ext cx="2057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Research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343400"/>
            <a:ext cx="196596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This is a strong testbed for hierarchical coordination under delayed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What we are trying to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80160"/>
            <a:ext cx="10972800" cy="914400"/>
          </a:xfrm>
          <a:prstGeom prst="round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44751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E7D8BD"/>
                </a:solidFill>
                <a:latin typeface="Aptos Display"/>
              </a:rPr>
              <a:t>Umbrella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10424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"/>
              </a:rPr>
              <a:t>Can hierarchical MARL improve maritime scheduling under congestion and resource constraints?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51460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679192"/>
            <a:ext cx="47548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RQ1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44952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336"/>
                </a:solidFill>
                <a:latin typeface="Aptos"/>
              </a:rPr>
              <a:t>How can heterogeneous agents coordinate using shared congestion forecasts?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251460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2679192"/>
            <a:ext cx="47548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044952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336"/>
                </a:solidFill>
                <a:latin typeface="Aptos"/>
              </a:rPr>
              <a:t>Does proactive coordination improve over independent and reactive baselines?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38912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4553712"/>
            <a:ext cx="47548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19472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336"/>
                </a:solidFill>
                <a:latin typeface="Aptos"/>
              </a:rPr>
              <a:t>Which forecast horizons and sharing strategies maximize decision quality?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4389120"/>
            <a:ext cx="512064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4553712"/>
            <a:ext cx="47548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919472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336"/>
                </a:solidFill>
                <a:latin typeface="Aptos"/>
              </a:rPr>
              <a:t>How do coordination improvements affect fuel, delay, and carbon cost?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126480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46275"/>
                </a:solidFill>
                <a:latin typeface="Aptos"/>
              </a:rPr>
              <a:t>The project is organized around a chain of related questions: coordination, baselines, forecast design, and economics.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Current simulator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657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90472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Topology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01368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5 ports, 8 vessels, 3 docks per 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587752"/>
            <a:ext cx="3657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752344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Time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1 hour per step and 6 hour default service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3849624"/>
            <a:ext cx="3657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4014215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Travel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25112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Synthetic port-distance matrix with routes from 22 to 98 nautical miles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5111496"/>
            <a:ext cx="36576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5276088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Fuel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586983"/>
            <a:ext cx="3154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Default fuel is 100, with refueling only after real service completion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26280" y="1325880"/>
            <a:ext cx="7040880" cy="5349240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7448" y="1490472"/>
            <a:ext cx="6675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Synthetic port distance matrix (nautical miles)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1737360"/>
            <a:ext cx="6537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46275"/>
                </a:solidFill>
                <a:latin typeface="Aptos"/>
              </a:rPr>
              <a:t>Rows and columns are ports P0–P4; the diagonal is 0, and the matrix is symmetric.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2057400"/>
            <a:ext cx="6537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46275"/>
                </a:solidFill>
                <a:latin typeface="Aptos"/>
              </a:rPr>
              <a:t>The values are synthetic and scaled so multiple voyages can complete within one rollout.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2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720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88152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29400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2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1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66759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1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2788920"/>
            <a:ext cx="868680" cy="457200"/>
          </a:xfrm>
          <a:prstGeom prst="roundRect">
            <a:avLst/>
          </a:prstGeom>
          <a:solidFill>
            <a:srgbClr val="E4EC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62872" y="2916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92040" y="3246120"/>
            <a:ext cx="868680" cy="457200"/>
          </a:xfrm>
          <a:prstGeom prst="roundRect">
            <a:avLst/>
          </a:prstGeom>
          <a:solidFill>
            <a:srgbClr val="F7F4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2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60720" y="32461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88152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629400" y="32461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2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84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8079" y="32461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25511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22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66759" y="32461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4191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34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235440" y="32461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62872" y="33741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78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892040" y="3703320"/>
            <a:ext cx="868680" cy="457200"/>
          </a:xfrm>
          <a:prstGeom prst="roundRect">
            <a:avLst/>
          </a:prstGeom>
          <a:solidFill>
            <a:srgbClr val="F7F4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19472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760720" y="37033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788152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84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629400" y="37033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56832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98079" y="37033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525511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98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66759" y="37033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94191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61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37033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262872" y="3831335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92040" y="4160520"/>
            <a:ext cx="868680" cy="457200"/>
          </a:xfrm>
          <a:prstGeom prst="roundRect">
            <a:avLst/>
          </a:prstGeom>
          <a:solidFill>
            <a:srgbClr val="F7F4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19472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760720" y="41605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788152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22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629400" y="41605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56832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98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498079" y="41605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525511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66759" y="41605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94191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55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235440" y="41605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262872" y="42885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59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892040" y="4617720"/>
            <a:ext cx="868680" cy="457200"/>
          </a:xfrm>
          <a:prstGeom prst="roundRect">
            <a:avLst/>
          </a:prstGeom>
          <a:solidFill>
            <a:srgbClr val="F7F4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19472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760720" y="46177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88152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34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629400" y="46177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56832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61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46177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525511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55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66759" y="46177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94191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0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235440" y="46177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262872" y="47457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82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892040" y="5074920"/>
            <a:ext cx="868680" cy="457200"/>
          </a:xfrm>
          <a:prstGeom prst="roundRect">
            <a:avLst/>
          </a:prstGeom>
          <a:solidFill>
            <a:srgbClr val="F7F4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919472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4385C"/>
                </a:solidFill>
                <a:latin typeface="Aptos"/>
              </a:rPr>
              <a:t>P4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760720" y="50749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88152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78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629400" y="50749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656832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54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498079" y="50749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25511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59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366759" y="50749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94191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82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235440" y="5074920"/>
            <a:ext cx="86868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262872" y="5202936"/>
            <a:ext cx="813815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142336"/>
                </a:solidFill>
                <a:latin typeface="Aptos"/>
              </a:rPr>
              <a:t>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EXPERIMENT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How the current baseline is trained and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49240" cy="5303520"/>
          </a:xfrm>
          <a:prstGeom prst="roundRect">
            <a:avLst/>
          </a:prstGeom>
          <a:solidFill>
            <a:srgbClr val="F5FA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90472"/>
            <a:ext cx="49834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Main operating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754880" cy="4526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Algorithm: MAPPO with centralized training and decentralized execution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Parameter sharing across vessels and across ports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100 training iterations and rollout_length = 64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Environment horizon = 69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Seed = 42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142336"/>
                </a:solidFill>
                <a:latin typeface="Aptos"/>
              </a:rPr>
              <a:t>Local CPU run for the reported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25880"/>
            <a:ext cx="5349240" cy="2514600"/>
          </a:xfrm>
          <a:prstGeom prst="roundRect">
            <a:avLst/>
          </a:prstGeom>
          <a:solidFill>
            <a:srgbClr val="FDF3E8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1490472"/>
            <a:ext cx="49834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Final completion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8308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42336"/>
                </a:solidFill>
                <a:latin typeface="Aptos"/>
              </a:rPr>
              <a:t>continuous episodes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42336"/>
                </a:solidFill>
                <a:latin typeface="Aptos"/>
              </a:rPr>
              <a:t>ground_truth forecasts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42336"/>
                </a:solidFill>
                <a:latin typeface="Aptos"/>
              </a:rPr>
              <a:t>one artifact run plus one five-seed run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42336"/>
                </a:solidFill>
                <a:latin typeface="Aptos"/>
              </a:rPr>
              <a:t>designed to isolate control quality while finishing the project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349240" cy="2514600"/>
          </a:xfrm>
          <a:prstGeom prst="roundRect">
            <a:avLst/>
          </a:prstGeom>
          <a:solidFill>
            <a:srgbClr val="EBF7F5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4279392"/>
            <a:ext cx="49834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Primary evaluation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72000"/>
            <a:ext cx="4754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On-time rate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Completed arrivals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Port service events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Dock utilization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Total operating cost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Three decision layers with delayed coordination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2743200" cy="2011680"/>
          </a:xfrm>
          <a:prstGeom prst="roundRect">
            <a:avLst/>
          </a:prstGeom>
          <a:solidFill>
            <a:srgbClr val="F5F8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2199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Fleet coordinator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42336"/>
                </a:solidFill>
                <a:latin typeface="Aptos"/>
              </a:rPr>
              <a:t>Strategic destination guidance
Slowest decision cadence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2057400"/>
            <a:ext cx="27432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3128" y="222199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Vessel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69748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42336"/>
                </a:solidFill>
                <a:latin typeface="Aptos"/>
              </a:rPr>
              <a:t>Speed control
Arrival-slot requests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2057400"/>
            <a:ext cx="2743200" cy="2011680"/>
          </a:xfrm>
          <a:prstGeom prst="roundRect">
            <a:avLst/>
          </a:prstGeom>
          <a:solidFill>
            <a:srgbClr val="FCF8F2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82128" y="2221992"/>
            <a:ext cx="23774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Port 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697480"/>
            <a:ext cx="2240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42336"/>
                </a:solidFill>
                <a:latin typeface="Aptos"/>
              </a:rPr>
              <a:t>Request acceptance
Service and berth decisions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74320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D67E3F"/>
                </a:solidFill>
                <a:latin typeface="Aptos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743200"/>
            <a:ext cx="411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D67E3F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709160"/>
            <a:ext cx="10332720" cy="1005840"/>
          </a:xfrm>
          <a:prstGeom prst="roundRect">
            <a:avLst/>
          </a:prstGeom>
          <a:solidFill>
            <a:srgbClr val="F9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010912"/>
            <a:ext cx="9829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142336"/>
                </a:solidFill>
                <a:latin typeface="Aptos"/>
              </a:rPr>
              <a:t>The environment is intentionally asynchronous, so the policies must coordinate under delayed information and physical travel 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MECHANICS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How one simulation step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7498079" cy="5394960"/>
          </a:xfrm>
          <a:prstGeom prst="roundRect">
            <a:avLst/>
          </a:prstGeom>
          <a:solidFill>
            <a:srgbClr val="F5FA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90472"/>
            <a:ext cx="713231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Transition kernel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828800"/>
            <a:ext cx="6949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93392"/>
            <a:ext cx="65836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1. Deliver messages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58568"/>
            <a:ext cx="6446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Apply due actions and delayed communications.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52928"/>
            <a:ext cx="6949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017520"/>
            <a:ext cx="65836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2. Advance vessels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282696"/>
            <a:ext cx="6446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Update motion, fuel burn, emissions, and arrivals.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877056"/>
            <a:ext cx="6949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041648"/>
            <a:ext cx="65836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3. Process ports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306824"/>
            <a:ext cx="6446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Update queue, berth service, service completion, and refueling.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901184"/>
            <a:ext cx="6949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5065776"/>
            <a:ext cx="65836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4. Compute rewards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30952"/>
            <a:ext cx="6446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Log diagnostics and compute role-specific rewards.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1325880"/>
            <a:ext cx="3200400" cy="5394960"/>
          </a:xfrm>
          <a:prstGeom prst="roundRect">
            <a:avLst/>
          </a:prstGeom>
          <a:solidFill>
            <a:srgbClr val="FCF8F2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67928" y="1490472"/>
            <a:ext cx="28346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Why this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1810512"/>
            <a:ext cx="269748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42336"/>
                </a:solidFill>
                <a:latin typeface="Aptos"/>
              </a:rPr>
              <a:t>The environment is not one big update; it moves through communication, travel, berth service, and reward calculation in sequence.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336"/>
                </a:solidFill>
                <a:latin typeface="Aptos"/>
              </a:rPr>
              <a:t>This is why delays, arrivals, and service completions show up at different times in the logs.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142336"/>
                </a:solidFill>
                <a:latin typeface="Aptos"/>
              </a:rPr>
              <a:t>The next two slides separate reward intuition from reward formulas so the audience sees both the story and the technical definition.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REWARDS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Reward structure in plain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15568"/>
            <a:ext cx="109728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28016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Vessel reward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10332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2336"/>
                </a:solidFill>
                <a:latin typeface="Aptos"/>
              </a:rPr>
              <a:t>Reward = arrival and punctuality minus travel cost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792224"/>
            <a:ext cx="4800600" cy="969264"/>
          </a:xfrm>
          <a:prstGeom prst="roundRect">
            <a:avLst/>
          </a:prstGeom>
          <a:solidFill>
            <a:srgbClr val="F2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1956816"/>
            <a:ext cx="4434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rewards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066543"/>
            <a:ext cx="438912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Arrival, On-time arrival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1792224"/>
            <a:ext cx="5440680" cy="969264"/>
          </a:xfrm>
          <a:prstGeom prst="roundRect">
            <a:avLst/>
          </a:prstGeom>
          <a:solidFill>
            <a:srgbClr val="FCF5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9048" y="1956816"/>
            <a:ext cx="5074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penalizes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8" y="2066543"/>
            <a:ext cx="49834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Fuel used, Delay added, CO2 emitted, Transit time, Schedule delay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081528"/>
            <a:ext cx="10972800" cy="1828800"/>
          </a:xfrm>
          <a:prstGeom prst="roundRect">
            <a:avLst/>
          </a:prstGeom>
          <a:solidFill>
            <a:srgbClr val="F8FD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246120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Port reward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429000"/>
            <a:ext cx="10332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2336"/>
                </a:solidFill>
                <a:latin typeface="Aptos"/>
              </a:rPr>
              <a:t>Reward = responsive berth management minus congestion cost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758184"/>
            <a:ext cx="4800600" cy="969264"/>
          </a:xfrm>
          <a:prstGeom prst="roundRect">
            <a:avLst/>
          </a:prstGeom>
          <a:solidFill>
            <a:srgbClr val="F2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922776"/>
            <a:ext cx="4434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rewards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032504"/>
            <a:ext cx="438912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Accepted requests, Vessels served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758184"/>
            <a:ext cx="5440680" cy="969264"/>
          </a:xfrm>
          <a:prstGeom prst="roundRect">
            <a:avLst/>
          </a:prstGeom>
          <a:solidFill>
            <a:srgbClr val="FCF5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3922776"/>
            <a:ext cx="5074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penalizes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4032504"/>
            <a:ext cx="4983480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Rejected requests, Queue waiting, Idle docks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47488"/>
            <a:ext cx="1097280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5212079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Coordinator reward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94959"/>
            <a:ext cx="103327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42336"/>
                </a:solidFill>
                <a:latin typeface="Aptos"/>
              </a:rPr>
              <a:t>Reward = system flow and utilization minus network-wide cost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5724144"/>
            <a:ext cx="4800600" cy="1152144"/>
          </a:xfrm>
          <a:prstGeom prst="roundRect">
            <a:avLst/>
          </a:prstGeom>
          <a:solidFill>
            <a:srgbClr val="F2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5888736"/>
            <a:ext cx="4434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rewards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5998464"/>
            <a:ext cx="438912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Accepted requests, Vessels served, Berth utilization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97880" y="5724144"/>
            <a:ext cx="5440680" cy="1152144"/>
          </a:xfrm>
          <a:prstGeom prst="roundRect">
            <a:avLst/>
          </a:prstGeom>
          <a:solidFill>
            <a:srgbClr val="FCF5E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9048" y="5888736"/>
            <a:ext cx="5074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What it penalizes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9048" y="5998464"/>
            <a:ext cx="4983480" cy="8595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42336"/>
                </a:solidFill>
                <a:latin typeface="Aptos"/>
              </a:rPr>
              <a:t>Fuel, Queue, Idle docks, Delay, Schedule delay, CO2, Rejected requests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565392"/>
            <a:ext cx="1060704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546275"/>
                </a:solidFill>
                <a:latin typeface="Aptos"/>
              </a:rPr>
              <a:t>This is the audience-facing summary. The next slide shows the actual symbolic formulas used in the simulator.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REWARDS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Actual reward formulas used in the simulator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0972800" cy="5440680"/>
          </a:xfrm>
          <a:prstGeom prst="roundRect">
            <a:avLst/>
          </a:prstGeom>
          <a:solidFill>
            <a:srgbClr val="FCF8F2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490472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Symbolic 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1417320"/>
            <a:ext cx="104241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61288" y="158191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Vessel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28800"/>
            <a:ext cx="996696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Courier New"/>
              </a:rPr>
              <a:t>r_V(t) = r_arr·1[arrived] + r_on·1[on_time]
          − (w_fΔfuel + w_dΔdelay + w_eΔCO2 + w_tΔtransit + w_sΔsched)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3182112"/>
            <a:ext cx="10424160" cy="1325880"/>
          </a:xfrm>
          <a:prstGeom prst="roundRect">
            <a:avLst/>
          </a:prstGeom>
          <a:solidFill>
            <a:srgbClr val="F8FD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3346704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Port reward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593592"/>
            <a:ext cx="9966960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Courier New"/>
              </a:rPr>
              <a:t>r_P(t) = r_acc·accepted + r_srv·served
          − r_rej·rejected − (queue·dt + w_idle·idle_docks)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663440"/>
            <a:ext cx="10424160" cy="173736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4828031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Coordinator reward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074920"/>
            <a:ext cx="9966960" cy="12344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Courier New"/>
              </a:rPr>
              <a:t>r_C(t) = r_acc·accepted + r_srv·served + r_util·avg_occupied
          − (w_fΔfuel + w_qavg_queue + w_iavg_idle + w_dΔdelay + w_sΔsched + w_eΔCO2 + r_rej·rejected)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6473952"/>
            <a:ext cx="104241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46275"/>
                </a:solidFill>
                <a:latin typeface="Aptos"/>
              </a:rPr>
              <a:t>Δ terms are per-step increments; accepted, rejected, and served are event counts for the current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PROGRESS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What changed since March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2971800" cy="1965960"/>
          </a:xfrm>
          <a:prstGeom prst="roundRect">
            <a:avLst/>
          </a:prstGeom>
          <a:solidFill>
            <a:srgbClr val="EBF7F5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9047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Corrected vessel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874519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No more collapse to constant minimum speed.
Requested arrival times now become real schedule deadlines.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325880"/>
            <a:ext cx="29718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78807" y="149047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Fuel and stalling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874519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Fuel exhaustion now causes true mid-route stalling.
Departures are checked for fuel feasibility.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1325880"/>
            <a:ext cx="2971800" cy="1965960"/>
          </a:xfrm>
          <a:prstGeom prst="roundRect">
            <a:avLst/>
          </a:prstGeom>
          <a:solidFill>
            <a:srgbClr val="FDF3E8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62088" y="149047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Port service realism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1874519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Ports track actual vessel IDs.
Refueling happens after real service completion.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94760"/>
            <a:ext cx="29718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395935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Reward redesign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4343400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Rewards moved from mostly aggregate penalties to event-driven, role-specific signals.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3794760"/>
            <a:ext cx="2971800" cy="1965960"/>
          </a:xfrm>
          <a:prstGeom prst="roundRect">
            <a:avLst/>
          </a:prstGeom>
          <a:solidFill>
            <a:srgbClr val="EBF7F5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78807" y="395935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Final run cleanup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78807" y="4343400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Moved the finish line to continuous + ground_truth and fixed training resets to vary reproducibly.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3794760"/>
            <a:ext cx="297180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62088" y="3959352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Visibility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2088" y="4343400"/>
            <a:ext cx="2560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42336"/>
                </a:solidFill>
                <a:latin typeface="Aptos"/>
              </a:rPr>
              <a:t>Action logs, event logs, reward components, and confidence diagnostics were added.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Why the current results are more trustworthy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977639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490472"/>
            <a:ext cx="36118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Transparency upgrades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42900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Grouped plots separate aggregate, vessel, port, and coordinator behavior.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Per-step eval trace, action log, and event log are available.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Reward-component decomposition shows which terms dominate.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42336"/>
                </a:solidFill>
                <a:latin typeface="Aptos"/>
              </a:rPr>
              <a:t>Policy-confidence metrics make near-uniform coordinator behavior easier to diagnose.</a:t>
            </a:r>
          </a:p>
        </p:txBody>
      </p:sp>
      <p:pic>
        <p:nvPicPr>
          <p:cNvPr id="9" name="Picture 8" descr="2026-03-31_role_reward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691640"/>
            <a:ext cx="6263640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74920" y="4572000"/>
            <a:ext cx="60807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546275"/>
                </a:solidFill>
                <a:latin typeface="Aptos"/>
              </a:rPr>
              <a:t>Role-specific reward traces over one evaluation episode. We show all three because vessel, port, and coordinator each optimize a different part of the task.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5074920"/>
            <a:ext cx="1783080" cy="841248"/>
          </a:xfrm>
          <a:prstGeom prst="roundRect">
            <a:avLst/>
          </a:prstGeom>
          <a:solidFill>
            <a:srgbClr val="F8FD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0368" y="5202936"/>
            <a:ext cx="1563624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TRACE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0368" y="5440680"/>
            <a:ext cx="15636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385C"/>
                </a:solidFill>
                <a:latin typeface="Aptos"/>
              </a:rPr>
              <a:t>eval_trace.csv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5074920"/>
            <a:ext cx="1965960" cy="841248"/>
          </a:xfrm>
          <a:prstGeom prst="roundRect">
            <a:avLst/>
          </a:prstGeom>
          <a:solidFill>
            <a:srgbClr val="F8FD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96328" y="5202936"/>
            <a:ext cx="1746504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ACTION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6328" y="5440680"/>
            <a:ext cx="174650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385C"/>
                </a:solidFill>
                <a:latin typeface="Aptos"/>
              </a:rPr>
              <a:t>eval_action_trace.csv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5074920"/>
            <a:ext cx="1783080" cy="841248"/>
          </a:xfrm>
          <a:prstGeom prst="roundRect">
            <a:avLst/>
          </a:prstGeom>
          <a:solidFill>
            <a:srgbClr val="F8FD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45167" y="5202936"/>
            <a:ext cx="1563624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EVENT LOG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5167" y="5440680"/>
            <a:ext cx="1563624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4385C"/>
                </a:solidFill>
                <a:latin typeface="Aptos"/>
              </a:rPr>
              <a:t>eval_event_log.csv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Current recommended baseline: transit-rebalanced 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71600"/>
            <a:ext cx="4297680" cy="5440680"/>
          </a:xfrm>
          <a:prstGeom prst="round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374903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AF2"/>
                </a:solidFill>
                <a:latin typeface="Aptos Display"/>
              </a:rPr>
              <a:t>Preferred operating balance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24028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7" y="235000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TOTAL REWARD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7" y="262432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-923.38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224028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7208" y="235000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ON-TIME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7208" y="262432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0.928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52044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7" y="363016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COMPLETED ARRIVALS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7" y="390448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26.8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352044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07208" y="363016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PORT SERVICE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7208" y="390448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36.2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480060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7" y="491032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DOCK UTILIZATION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518464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0.28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4800600"/>
            <a:ext cx="1600200" cy="960120"/>
          </a:xfrm>
          <a:prstGeom prst="roundRect">
            <a:avLst/>
          </a:prstGeom>
          <a:solidFill>
            <a:srgbClr val="224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7208" y="4910328"/>
            <a:ext cx="13716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E7D8BD"/>
                </a:solidFill>
                <a:latin typeface="Aptos"/>
              </a:rPr>
              <a:t>OPS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07208" y="5184648"/>
            <a:ext cx="13716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FFAF2"/>
                </a:solidFill>
                <a:latin typeface="Aptos Display"/>
              </a:rPr>
              <a:t>$1.330M</a:t>
            </a:r>
          </a:p>
        </p:txBody>
      </p:sp>
      <p:pic>
        <p:nvPicPr>
          <p:cNvPr id="26" name="Picture 25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17320"/>
            <a:ext cx="612648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RUN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Final full-scale run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349240" cy="4434840"/>
          </a:xfrm>
          <a:prstGeom prst="roundRect">
            <a:avLst/>
          </a:prstGeom>
          <a:solidFill>
            <a:srgbClr val="F5FAFC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36192"/>
            <a:ext cx="49834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Artifact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" y="1874519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2020824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0253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Continuous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" y="2441448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3" y="2587752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569464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Ground truth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" y="3008376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" y="3154680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ITERATIONS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136392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" y="3575304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721608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3703320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42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" y="4142232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4983" y="4288536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PURPOSE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4270248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Figures, traces, report, and saved model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6968" y="4709160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3" y="4855464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OUTPUTS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4568" y="483717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report.md + trace CSVs + plots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1371600"/>
            <a:ext cx="5349240" cy="4434840"/>
          </a:xfrm>
          <a:prstGeom prst="roundRect">
            <a:avLst/>
          </a:prstGeom>
          <a:solidFill>
            <a:srgbClr val="FDF3E8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7648" y="1536192"/>
            <a:ext cx="4983479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Multi-seed run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27648" y="1874519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55664" y="2020824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ENVIRONMENT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85248" y="200253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Continuous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27648" y="2441448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587752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FORECAST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85248" y="2569464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Ground truth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27648" y="3008376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5664" y="3154680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ITERATIONS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85248" y="3136392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100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27648" y="3575304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55664" y="3721608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SEEDS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85248" y="3703320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2B7A78"/>
                </a:solidFill>
                <a:latin typeface="Aptos"/>
              </a:rPr>
              <a:t>42, 49, 56, 63, 70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27648" y="4142232"/>
            <a:ext cx="4937760" cy="493776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4288536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PURPOSE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85248" y="4270248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14385C"/>
                </a:solidFill>
                <a:latin typeface="Aptos"/>
              </a:rPr>
              <a:t>Final quantitative stability claim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27648" y="4709160"/>
            <a:ext cx="4937760" cy="493776"/>
          </a:xfrm>
          <a:prstGeom prst="roundRect">
            <a:avLst/>
          </a:prstGeom>
          <a:solidFill>
            <a:srgbClr val="FAF8F4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4855464"/>
            <a:ext cx="3429000" cy="1280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1">
                <a:solidFill>
                  <a:srgbClr val="546275"/>
                </a:solidFill>
                <a:latin typeface="Aptos"/>
              </a:rPr>
              <a:t>OUTPUTS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85248" y="4837176"/>
            <a:ext cx="914400" cy="146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>
                <a:solidFill>
                  <a:srgbClr val="2B7A78"/>
                </a:solidFill>
                <a:latin typeface="Aptos"/>
              </a:rPr>
              <a:t>summary.csv + experiment_summary.json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5989320"/>
            <a:ext cx="10972800" cy="868680"/>
          </a:xfrm>
          <a:prstGeom prst="roundRect">
            <a:avLst/>
          </a:prstGeom>
          <a:solidFill>
            <a:srgbClr val="FDF3E8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" y="6153912"/>
            <a:ext cx="10607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Takeaway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6345936"/>
            <a:ext cx="104698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336"/>
                </a:solidFill>
                <a:latin typeface="Aptos"/>
              </a:rPr>
              <a:t>The project now finishes on one clean task definition: continuous scheduling with reliable forecasts, using one representative artifact run and one five-seed stability run.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64592"/>
            <a:ext cx="19202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7D8BD"/>
                </a:solidFill>
                <a:latin typeface="Aptos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47472"/>
            <a:ext cx="9784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AF2"/>
                </a:solidFill>
                <a:latin typeface="Aptos Display"/>
              </a:rPr>
              <a:t>What is simplified, and 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182880"/>
            <a:ext cx="4114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600" b="1">
                <a:solidFill>
                  <a:srgbClr val="E7D8BD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1031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93392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1. Run the artifact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77440"/>
            <a:ext cx="178307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Generate the final figures, traces, report, and saved model from seed 42.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1828800"/>
            <a:ext cx="2103120" cy="2743200"/>
          </a:xfrm>
          <a:prstGeom prst="roundRect">
            <a:avLst/>
          </a:prstGeom>
          <a:solidFill>
            <a:srgbClr val="EBF7F5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993392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2. Run five seeds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377440"/>
            <a:ext cx="178307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Use the same continuous + ground_truth setting for the final stability claim.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1224" y="1828800"/>
            <a:ext cx="21031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22392" y="1993392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3. Write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85816" y="2377440"/>
            <a:ext cx="178307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Use the artifact run for examples and the multi-seed run for the main numbers.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88936" y="1828800"/>
            <a:ext cx="2103120" cy="2743200"/>
          </a:xfrm>
          <a:prstGeom prst="roundRect">
            <a:avLst/>
          </a:prstGeom>
          <a:solidFill>
            <a:srgbClr val="FDF3E8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0104" y="1993392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4. Keep scope honest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53527" y="2377440"/>
            <a:ext cx="178307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Frame the result as control quality under reliable forecasts.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756648" y="1828800"/>
            <a:ext cx="2103120" cy="2743200"/>
          </a:xfrm>
          <a:prstGeom prst="roundRect">
            <a:avLst/>
          </a:prstGeom>
          <a:solidFill>
            <a:srgbClr val="FFFFFF"/>
          </a:solidFill>
          <a:ln>
            <a:solidFill>
              <a:srgbClr val="DDD1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57816" y="1993392"/>
            <a:ext cx="1737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4385C"/>
                </a:solidFill>
                <a:latin typeface="Aptos Display"/>
              </a:rPr>
              <a:t>5. Future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377440"/>
            <a:ext cx="178307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336"/>
                </a:solidFill>
                <a:latin typeface="Aptos"/>
              </a:rPr>
              <a:t>Reintroduce imperfect forecasts and real-port geography afterward.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1663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46275"/>
                </a:solidFill>
                <a:latin typeface="Aptos"/>
              </a:rPr>
              <a:t>This finish line is intentionally narrow: complete the project cleanly on the continuous environment, then expand realism afterward.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