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0" y="731520"/>
            <a:ext cx="2971800" cy="1965960"/>
          </a:xfrm>
          <a:prstGeom prst="roundRect">
            <a:avLst/>
          </a:prstGeom>
          <a:solidFill>
            <a:srgbClr val="E5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41080" y="3063240"/>
            <a:ext cx="2468880" cy="1325880"/>
          </a:xfrm>
          <a:prstGeom prst="roundRect">
            <a:avLst/>
          </a:prstGeom>
          <a:solidFill>
            <a:srgbClr val="F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3152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336"/>
                </a:solidFill>
                <a:latin typeface="Aptos Display"/>
              </a:rPr>
              <a:t>Hierarchical Multi-Agent Reinforcement Learning for Congestion-Aware Maritime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6858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46275"/>
                </a:solidFill>
                <a:latin typeface="Aptos"/>
              </a:rPr>
              <a:t>Project update: simulator background, reward redesign, controlled validation benchmark, current progress, and next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00400"/>
            <a:ext cx="6995160" cy="114300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6537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AF2"/>
                </a:solidFill>
                <a:latin typeface="Aptos"/>
              </a:rPr>
              <a:t>We now have both a strong continuous baseline and a controlled benchmark for validating the core control logic before reintroducing forecast uncertainty.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987552"/>
            <a:ext cx="2331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6275"/>
                </a:solidFill>
                <a:latin typeface="Aptos"/>
              </a:rPr>
              <a:t>SPRING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298448"/>
            <a:ext cx="2331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385C"/>
                </a:solidFill>
                <a:latin typeface="Aptos Display"/>
              </a:rPr>
              <a:t>Independent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682496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2336"/>
                </a:solidFill>
                <a:latin typeface="Aptos"/>
              </a:rPr>
              <a:t>Supervisor:
Prof. Amine Aboussalah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364992"/>
            <a:ext cx="1828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MARCH 31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6576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385C"/>
                </a:solidFill>
                <a:latin typeface="Aptos"/>
              </a:rPr>
              <a:t>Baseline:
v3 + GT benchmark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07492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239512"/>
            <a:ext cx="2468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6275"/>
                </a:solidFill>
                <a:latin typeface="Aptos"/>
              </a:rPr>
              <a:t>RESEARCH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513831"/>
            <a:ext cx="2468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385C"/>
                </a:solidFill>
                <a:latin typeface="Aptos Display"/>
              </a:rPr>
              <a:t>HMARL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92531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46275"/>
                </a:solidFill>
                <a:latin typeface="Aptos"/>
              </a:rPr>
              <a:t>Coordinator, vessel, and port 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507492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4487" y="5239512"/>
            <a:ext cx="2697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6275"/>
                </a:solidFill>
                <a:latin typeface="Aptos"/>
              </a:rPr>
              <a:t>CURRENT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4487" y="5513831"/>
            <a:ext cx="2697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385C"/>
                </a:solidFill>
                <a:latin typeface="Aptos Display"/>
              </a:rPr>
              <a:t>v3 + GT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4487" y="5925312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46275"/>
                </a:solidFill>
                <a:latin typeface="Aptos"/>
              </a:rPr>
              <a:t>Operating baseline plus validation benchmark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5074920"/>
            <a:ext cx="2697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96328" y="5239512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46275"/>
                </a:solidFill>
                <a:latin typeface="Aptos"/>
              </a:rPr>
              <a:t>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5513831"/>
            <a:ext cx="2331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385C"/>
                </a:solidFill>
                <a:latin typeface="Aptos Display"/>
              </a:rPr>
              <a:t>12 slides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59253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46275"/>
                </a:solidFill>
                <a:latin typeface="Aptos"/>
              </a:rPr>
              <a:t>Presentation-ready update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D8BD"/>
                </a:solidFill>
                <a:latin typeface="Aptos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AF2"/>
                </a:solidFill>
                <a:latin typeface="Aptos Display"/>
              </a:rPr>
              <a:t>Why this project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E7D8BD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5669280" cy="5166360"/>
          </a:xfrm>
          <a:prstGeom prst="roundRect">
            <a:avLst/>
          </a:prstGeom>
          <a:solidFill>
            <a:srgbClr val="EEF6FB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44751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Operational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50749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>
                <a:solidFill>
                  <a:srgbClr val="142336"/>
                </a:solidFill>
                <a:latin typeface="Aptos"/>
              </a:rPr>
              <a:t>Ports have limited berth capacity and nonzero service time.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42336"/>
                </a:solidFill>
                <a:latin typeface="Aptos"/>
              </a:rPr>
              <a:t>Vessels trade off speed, fuel burn, emissions, and lateness.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42336"/>
                </a:solidFill>
                <a:latin typeface="Aptos"/>
              </a:rPr>
              <a:t>Poor local choices can create downstream congestion and idle capacity elsewhere.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42336"/>
                </a:solidFill>
                <a:latin typeface="Aptos"/>
              </a:rPr>
              <a:t>The system is naturally multi-agent, asynchronous, and resource-constrained.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280160"/>
            <a:ext cx="24231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7" y="1444751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Congestion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783080"/>
            <a:ext cx="1965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336"/>
                </a:solidFill>
                <a:latin typeface="Aptos"/>
              </a:rPr>
              <a:t>Too many arrivals to one port can create queueing and delay at the whole network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280160"/>
            <a:ext cx="24231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9448" y="1444751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783080"/>
            <a:ext cx="1965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336"/>
                </a:solidFill>
                <a:latin typeface="Aptos"/>
              </a:rPr>
              <a:t>Faster sailing can improve timing but increases fuel use, emissions, and operating cost.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840480"/>
            <a:ext cx="24231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7" y="400507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Coordination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343400"/>
            <a:ext cx="1965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336"/>
                </a:solidFill>
                <a:latin typeface="Aptos"/>
              </a:rPr>
              <a:t>Ports and vessels need global guidance, not only local reactive behavior.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840480"/>
            <a:ext cx="24231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400507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Research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343400"/>
            <a:ext cx="1965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336"/>
                </a:solidFill>
                <a:latin typeface="Aptos"/>
              </a:rPr>
              <a:t>This is a strong testbed for hierarchical coordination under delayed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D8BD"/>
                </a:solidFill>
                <a:latin typeface="Aptos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AF2"/>
                </a:solidFill>
                <a:latin typeface="Aptos Display"/>
              </a:rPr>
              <a:t>What we are trying to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E7D8BD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10972800" cy="91440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44751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7D8BD"/>
                </a:solidFill>
                <a:latin typeface="Aptos Display"/>
              </a:rPr>
              <a:t>Umbrella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AF2"/>
                </a:solidFill>
                <a:latin typeface="Aptos"/>
              </a:rPr>
              <a:t>Can hierarchical MARL improve maritime scheduling under congestion and resource constraints?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51460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679192"/>
            <a:ext cx="4754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RQ1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44952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336"/>
                </a:solidFill>
                <a:latin typeface="Aptos"/>
              </a:rPr>
              <a:t>How can heterogeneous agents coordinate using shared congestion forecasts?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51460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679192"/>
            <a:ext cx="4754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RQ2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44952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336"/>
                </a:solidFill>
                <a:latin typeface="Aptos"/>
              </a:rPr>
              <a:t>Does proactive coordination improve over independent and reactive baselines?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38912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553712"/>
            <a:ext cx="4754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19472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336"/>
                </a:solidFill>
                <a:latin typeface="Aptos"/>
              </a:rPr>
              <a:t>Which forecast horizons and sharing strategies maximize decision quality?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38912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4553712"/>
            <a:ext cx="4754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RQ4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919472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336"/>
                </a:solidFill>
                <a:latin typeface="Aptos"/>
              </a:rPr>
              <a:t>How do coordination improvements affect fuel, delay, and carbon cost?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126480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46275"/>
                </a:solidFill>
                <a:latin typeface="Aptos"/>
              </a:rPr>
              <a:t>The project is organized around a chain of related questions: coordination, baselines, forecast design, and economics.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D8BD"/>
                </a:solidFill>
                <a:latin typeface="Aptos"/>
              </a:rPr>
              <a:t>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AF2"/>
                </a:solidFill>
                <a:latin typeface="Aptos Display"/>
              </a:rPr>
              <a:t>Current simulator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E7D8BD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657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Topology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01368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2336"/>
                </a:solidFill>
                <a:latin typeface="Aptos"/>
              </a:rPr>
              <a:t>5 ports, 8 vessels, 3 docks per 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587752"/>
            <a:ext cx="3657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752344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Time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2336"/>
                </a:solidFill>
                <a:latin typeface="Aptos"/>
              </a:rPr>
              <a:t>1 hour per step and 6 hour default service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849624"/>
            <a:ext cx="3657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014215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Travel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25112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2336"/>
                </a:solidFill>
                <a:latin typeface="Aptos"/>
              </a:rPr>
              <a:t>Synthetic port-distance matrix with routes from 22 to 98 nautical miles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111496"/>
            <a:ext cx="3657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5276088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Fuel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86983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2336"/>
                </a:solidFill>
                <a:latin typeface="Aptos"/>
              </a:rPr>
              <a:t>Default fuel is 100, with refueling only after real service completion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1325880"/>
            <a:ext cx="7040880" cy="5349240"/>
          </a:xfrm>
          <a:prstGeom prst="roundRect">
            <a:avLst/>
          </a:prstGeom>
          <a:solidFill>
            <a:srgbClr val="FAF8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7448" y="1490472"/>
            <a:ext cx="6675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Synthetic port distance matrix (nautical miles)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737360"/>
            <a:ext cx="6537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46275"/>
                </a:solidFill>
                <a:latin typeface="Aptos"/>
              </a:rPr>
              <a:t>Rows and columns are ports P0–P4; the diagonal is 0, and the matrix is symmetric.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057400"/>
            <a:ext cx="6537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46275"/>
                </a:solidFill>
                <a:latin typeface="Aptos"/>
              </a:rPr>
              <a:t>The values are synthetic and scaled so multiple voyages can complete within one rollout.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788920"/>
            <a:ext cx="868680" cy="457200"/>
          </a:xfrm>
          <a:prstGeom prst="roundRect">
            <a:avLst/>
          </a:prstGeom>
          <a:solidFill>
            <a:srgbClr val="E4EC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29169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385C"/>
                </a:solidFill>
                <a:latin typeface="Aptos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2788920"/>
            <a:ext cx="868680" cy="457200"/>
          </a:xfrm>
          <a:prstGeom prst="roundRect">
            <a:avLst/>
          </a:prstGeom>
          <a:solidFill>
            <a:srgbClr val="E4EC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88152" y="29169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385C"/>
                </a:solidFill>
                <a:latin typeface="Aptos"/>
              </a:rPr>
              <a:t>P0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2788920"/>
            <a:ext cx="868680" cy="457200"/>
          </a:xfrm>
          <a:prstGeom prst="roundRect">
            <a:avLst/>
          </a:prstGeom>
          <a:solidFill>
            <a:srgbClr val="E4EC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29169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385C"/>
                </a:solidFill>
                <a:latin typeface="Aptos"/>
              </a:rPr>
              <a:t>P1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2788920"/>
            <a:ext cx="868680" cy="457200"/>
          </a:xfrm>
          <a:prstGeom prst="roundRect">
            <a:avLst/>
          </a:prstGeom>
          <a:solidFill>
            <a:srgbClr val="E4EC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5511" y="29169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385C"/>
                </a:solidFill>
                <a:latin typeface="Aptos"/>
              </a:rPr>
              <a:t>P2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59" y="2788920"/>
            <a:ext cx="868680" cy="457200"/>
          </a:xfrm>
          <a:prstGeom prst="roundRect">
            <a:avLst/>
          </a:prstGeom>
          <a:solidFill>
            <a:srgbClr val="E4EC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1" y="29169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385C"/>
                </a:solidFill>
                <a:latin typeface="Aptos"/>
              </a:rPr>
              <a:t>P3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2788920"/>
            <a:ext cx="868680" cy="457200"/>
          </a:xfrm>
          <a:prstGeom prst="roundRect">
            <a:avLst/>
          </a:prstGeom>
          <a:solidFill>
            <a:srgbClr val="E4EC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2872" y="29169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385C"/>
                </a:solidFill>
                <a:latin typeface="Aptos"/>
              </a:rPr>
              <a:t>P4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2040" y="3246120"/>
            <a:ext cx="868680" cy="457200"/>
          </a:xfrm>
          <a:prstGeom prst="roundRect">
            <a:avLst/>
          </a:prstGeom>
          <a:solidFill>
            <a:srgbClr val="F7F4E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9472" y="33741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385C"/>
                </a:solidFill>
                <a:latin typeface="Aptos"/>
              </a:rPr>
              <a:t>P0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0" y="32461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88152" y="33741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9400" y="32461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33741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84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32461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25511" y="33741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22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59" y="32461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1" y="33741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34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5440" y="32461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62872" y="33741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78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92040" y="3703320"/>
            <a:ext cx="868680" cy="457200"/>
          </a:xfrm>
          <a:prstGeom prst="roundRect">
            <a:avLst/>
          </a:prstGeom>
          <a:solidFill>
            <a:srgbClr val="F7F4E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19472" y="3831335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385C"/>
                </a:solidFill>
                <a:latin typeface="Aptos"/>
              </a:rPr>
              <a:t>P1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0720" y="37033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88152" y="3831335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84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29400" y="37033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56832" y="3831335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79" y="37033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25511" y="3831335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98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66759" y="37033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94191" y="3831335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61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37033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62872" y="3831335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54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92040" y="4160520"/>
            <a:ext cx="868680" cy="457200"/>
          </a:xfrm>
          <a:prstGeom prst="roundRect">
            <a:avLst/>
          </a:prstGeom>
          <a:solidFill>
            <a:srgbClr val="F7F4E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19472" y="42885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385C"/>
                </a:solidFill>
                <a:latin typeface="Aptos"/>
              </a:rPr>
              <a:t>P2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760720" y="41605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88152" y="42885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22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629400" y="41605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56832" y="42885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98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98079" y="41605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25511" y="42885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66759" y="41605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94191" y="42885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55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35440" y="41605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62872" y="42885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59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892040" y="4617720"/>
            <a:ext cx="868680" cy="457200"/>
          </a:xfrm>
          <a:prstGeom prst="roundRect">
            <a:avLst/>
          </a:prstGeom>
          <a:solidFill>
            <a:srgbClr val="F7F4E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19472" y="47457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385C"/>
                </a:solidFill>
                <a:latin typeface="Aptos"/>
              </a:rPr>
              <a:t>P3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760720" y="46177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88152" y="47457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34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629400" y="46177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56832" y="47457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61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498079" y="46177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25511" y="47457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55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66759" y="46177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94191" y="47457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235440" y="46177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62872" y="47457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82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892040" y="5074920"/>
            <a:ext cx="868680" cy="457200"/>
          </a:xfrm>
          <a:prstGeom prst="roundRect">
            <a:avLst/>
          </a:prstGeom>
          <a:solidFill>
            <a:srgbClr val="F7F4E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919472" y="52029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385C"/>
                </a:solidFill>
                <a:latin typeface="Aptos"/>
              </a:rPr>
              <a:t>P4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760720" y="50749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88152" y="52029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78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629400" y="50749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56832" y="52029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54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498079" y="50749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25511" y="52029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59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366759" y="50749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94191" y="52029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82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235440" y="5074920"/>
            <a:ext cx="868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62872" y="5202936"/>
            <a:ext cx="813815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42336"/>
                </a:solidFill>
                <a:latin typeface="Aptos"/>
              </a:rPr>
              <a:t>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D8BD"/>
                </a:solidFill>
                <a:latin typeface="Aptos"/>
              </a:rPr>
              <a:t>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AF2"/>
                </a:solidFill>
                <a:latin typeface="Aptos Display"/>
              </a:rPr>
              <a:t>How the current baseline is trained and evaluated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E7D8BD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49240" cy="5303520"/>
          </a:xfrm>
          <a:prstGeom prst="roundRect">
            <a:avLst/>
          </a:prstGeom>
          <a:solidFill>
            <a:srgbClr val="F5FAFC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49834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Main operating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754880" cy="4526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>
                <a:solidFill>
                  <a:srgbClr val="142336"/>
                </a:solidFill>
                <a:latin typeface="Aptos"/>
              </a:rPr>
              <a:t>Algorithm: MAPPO with centralized training and decentralized execution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42336"/>
                </a:solidFill>
                <a:latin typeface="Aptos"/>
              </a:rPr>
              <a:t>Parameter sharing across vessels and across ports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42336"/>
                </a:solidFill>
                <a:latin typeface="Aptos"/>
              </a:rPr>
              <a:t>100 training iterations and rollout_length = 64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42336"/>
                </a:solidFill>
                <a:latin typeface="Aptos"/>
              </a:rPr>
              <a:t>Environment horizon = 69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42336"/>
                </a:solidFill>
                <a:latin typeface="Aptos"/>
              </a:rPr>
              <a:t>Seed = 42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42336"/>
                </a:solidFill>
                <a:latin typeface="Aptos"/>
              </a:rPr>
              <a:t>Local CPU run for the reported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49240" cy="2514600"/>
          </a:xfrm>
          <a:prstGeom prst="roundRect">
            <a:avLst/>
          </a:prstGeom>
          <a:solidFill>
            <a:srgbClr val="FDF3E8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490472"/>
            <a:ext cx="49834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Controlled validation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754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42336"/>
                </a:solidFill>
                <a:latin typeface="Aptos"/>
              </a:rPr>
              <a:t>single_mission episodes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42336"/>
                </a:solidFill>
                <a:latin typeface="Aptos"/>
              </a:rPr>
              <a:t>ground_truth forecasts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42336"/>
                </a:solidFill>
                <a:latin typeface="Aptos"/>
              </a:rPr>
              <a:t>Each vessel completes at most one trip per episode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42336"/>
                </a:solidFill>
                <a:latin typeface="Aptos"/>
              </a:rPr>
              <a:t>Used to validate control logic before reintroducing forecast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349240" cy="2514600"/>
          </a:xfrm>
          <a:prstGeom prst="roundRect">
            <a:avLst/>
          </a:prstGeom>
          <a:solidFill>
            <a:srgbClr val="EBF7F5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4279392"/>
            <a:ext cx="49834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Primary evaluation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4754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42336"/>
                </a:solidFill>
                <a:latin typeface="Aptos"/>
              </a:rPr>
              <a:t>On-time rate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336"/>
                </a:solidFill>
                <a:latin typeface="Aptos"/>
              </a:rPr>
              <a:t>Completed arrivals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336"/>
                </a:solidFill>
                <a:latin typeface="Aptos"/>
              </a:rPr>
              <a:t>Vessels served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336"/>
                </a:solidFill>
                <a:latin typeface="Aptos"/>
              </a:rPr>
              <a:t>Dock utilization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336"/>
                </a:solidFill>
                <a:latin typeface="Aptos"/>
              </a:rPr>
              <a:t>Total operating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D8BD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AF2"/>
                </a:solidFill>
                <a:latin typeface="Aptos Display"/>
              </a:rPr>
              <a:t>Three decision layers with delayed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E7D8BD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2743200" cy="2011680"/>
          </a:xfrm>
          <a:prstGeom prst="roundRect">
            <a:avLst/>
          </a:prstGeom>
          <a:solidFill>
            <a:srgbClr val="F5F8FC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2219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Fleet coordinator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2336"/>
                </a:solidFill>
                <a:latin typeface="Aptos"/>
              </a:rPr>
              <a:t>Strategic destination guidance
Slowest decision cadence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057400"/>
            <a:ext cx="2743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22219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Vessel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9748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2336"/>
                </a:solidFill>
                <a:latin typeface="Aptos"/>
              </a:rPr>
              <a:t>Speed control
Arrival-slot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057400"/>
            <a:ext cx="2743200" cy="2011680"/>
          </a:xfrm>
          <a:prstGeom prst="roundRect">
            <a:avLst/>
          </a:prstGeom>
          <a:solidFill>
            <a:srgbClr val="FCF8F2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2221992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Port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69748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2336"/>
                </a:solidFill>
                <a:latin typeface="Aptos"/>
              </a:rPr>
              <a:t>Request acceptance
Service and berth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74320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D67E3F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74320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D67E3F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09160"/>
            <a:ext cx="10332720" cy="1005840"/>
          </a:xfrm>
          <a:prstGeom prst="roundRect">
            <a:avLst/>
          </a:prstGeom>
          <a:solidFill>
            <a:srgbClr val="F9E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10912"/>
            <a:ext cx="9829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42336"/>
                </a:solidFill>
                <a:latin typeface="Aptos"/>
              </a:rPr>
              <a:t>The environment is intentionally asynchronous, so the policies must coordinate under delayed information and physical travel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D8BD"/>
                </a:solidFill>
                <a:latin typeface="Aptos"/>
              </a:rPr>
              <a:t>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AF2"/>
                </a:solidFill>
                <a:latin typeface="Aptos Display"/>
              </a:rPr>
              <a:t>How one simulation step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E7D8BD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7498079" cy="5394960"/>
          </a:xfrm>
          <a:prstGeom prst="roundRect">
            <a:avLst/>
          </a:prstGeom>
          <a:solidFill>
            <a:srgbClr val="F5FAFC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71323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Transition kernel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6949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993392"/>
            <a:ext cx="65836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1. Deliver messages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58568"/>
            <a:ext cx="6446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2336"/>
                </a:solidFill>
                <a:latin typeface="Aptos"/>
              </a:rPr>
              <a:t>Apply due actions and delayed communications.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52928"/>
            <a:ext cx="6949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017520"/>
            <a:ext cx="65836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2. Advance vessels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282696"/>
            <a:ext cx="6446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2336"/>
                </a:solidFill>
                <a:latin typeface="Aptos"/>
              </a:rPr>
              <a:t>Update motion, fuel burn, emissions, and arrivals.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77056"/>
            <a:ext cx="6949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041648"/>
            <a:ext cx="65836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3. Process 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306824"/>
            <a:ext cx="6446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2336"/>
                </a:solidFill>
                <a:latin typeface="Aptos"/>
              </a:rPr>
              <a:t>Update queue, berth service, service completion, and refueling.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901184"/>
            <a:ext cx="6949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5065776"/>
            <a:ext cx="65836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4. Compute rewards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330952"/>
            <a:ext cx="6446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2336"/>
                </a:solidFill>
                <a:latin typeface="Aptos"/>
              </a:rPr>
              <a:t>Log diagnostics and compute role-specific rewards.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1325880"/>
            <a:ext cx="3200400" cy="5394960"/>
          </a:xfrm>
          <a:prstGeom prst="roundRect">
            <a:avLst/>
          </a:prstGeom>
          <a:solidFill>
            <a:srgbClr val="FCF8F2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7928" y="149047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Why this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1810512"/>
            <a:ext cx="26974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42336"/>
                </a:solidFill>
                <a:latin typeface="Aptos"/>
              </a:rPr>
              <a:t>The environment is not one big update; it moves through communication, travel, berth service, and reward calculation in sequence.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2336"/>
                </a:solidFill>
                <a:latin typeface="Aptos"/>
              </a:rPr>
              <a:t>This is why delays, arrivals, and service completions show up at different times in the logs.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2336"/>
                </a:solidFill>
                <a:latin typeface="Aptos"/>
              </a:rPr>
              <a:t>The next two slides separate reward intuition from reward formulas so the audience sees both the story and the technical definition.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D8BD"/>
                </a:solidFill>
                <a:latin typeface="Aptos"/>
              </a:rPr>
              <a:t>REWARDS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AF2"/>
                </a:solidFill>
                <a:latin typeface="Aptos Display"/>
              </a:rPr>
              <a:t>Reward structure in plain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E7D8BD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15568"/>
            <a:ext cx="10972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280160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Vessel reward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336"/>
                </a:solidFill>
                <a:latin typeface="Aptos"/>
              </a:rPr>
              <a:t>Reward = arrival and punctuality minus travel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792224"/>
            <a:ext cx="4800600" cy="969264"/>
          </a:xfrm>
          <a:prstGeom prst="roundRect">
            <a:avLst/>
          </a:prstGeom>
          <a:solidFill>
            <a:srgbClr val="F2F8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956816"/>
            <a:ext cx="4434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What it rewards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66543"/>
            <a:ext cx="438912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42336"/>
                </a:solidFill>
                <a:latin typeface="Aptos"/>
              </a:rPr>
              <a:t>Arrival, On-time arrival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792224"/>
            <a:ext cx="5440680" cy="969264"/>
          </a:xfrm>
          <a:prstGeom prst="roundRect">
            <a:avLst/>
          </a:prstGeom>
          <a:solidFill>
            <a:srgbClr val="FCF5E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8" y="1956816"/>
            <a:ext cx="5074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What it penalizes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2066543"/>
            <a:ext cx="498348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42336"/>
                </a:solidFill>
                <a:latin typeface="Aptos"/>
              </a:rPr>
              <a:t>Fuel used, Delay added, CO2 emitted, Transit time, Schedule delay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81528"/>
            <a:ext cx="10972800" cy="1828800"/>
          </a:xfrm>
          <a:prstGeom prst="roundRect">
            <a:avLst/>
          </a:prstGeom>
          <a:solidFill>
            <a:srgbClr val="F8FDFC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246120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Port reward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10332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336"/>
                </a:solidFill>
                <a:latin typeface="Aptos"/>
              </a:rPr>
              <a:t>Reward = responsive berth management minus congestion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58184"/>
            <a:ext cx="4800600" cy="969264"/>
          </a:xfrm>
          <a:prstGeom prst="roundRect">
            <a:avLst/>
          </a:prstGeom>
          <a:solidFill>
            <a:srgbClr val="F2F8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922776"/>
            <a:ext cx="4434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What it rewards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032504"/>
            <a:ext cx="438912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42336"/>
                </a:solidFill>
                <a:latin typeface="Aptos"/>
              </a:rPr>
              <a:t>Accepted requests, Vessels served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3758184"/>
            <a:ext cx="5440680" cy="969264"/>
          </a:xfrm>
          <a:prstGeom prst="roundRect">
            <a:avLst/>
          </a:prstGeom>
          <a:solidFill>
            <a:srgbClr val="FCF5E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3922776"/>
            <a:ext cx="5074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What it penalizes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4032504"/>
            <a:ext cx="498348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42336"/>
                </a:solidFill>
                <a:latin typeface="Aptos"/>
              </a:rPr>
              <a:t>Rejected requests, Queue waiting, Idle docks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47488"/>
            <a:ext cx="10972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5212079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Coordinator reward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94959"/>
            <a:ext cx="10332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336"/>
                </a:solidFill>
                <a:latin typeface="Aptos"/>
              </a:rPr>
              <a:t>Reward = system flow and utilization minus network-wide cost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724144"/>
            <a:ext cx="4800600" cy="1152144"/>
          </a:xfrm>
          <a:prstGeom prst="roundRect">
            <a:avLst/>
          </a:prstGeom>
          <a:solidFill>
            <a:srgbClr val="F2F8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888736"/>
            <a:ext cx="4434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What it rewards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998464"/>
            <a:ext cx="4389120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42336"/>
                </a:solidFill>
                <a:latin typeface="Aptos"/>
              </a:rPr>
              <a:t>Accepted requests, Vessels served, Berth utilization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80" y="5724144"/>
            <a:ext cx="5440680" cy="1152144"/>
          </a:xfrm>
          <a:prstGeom prst="roundRect">
            <a:avLst/>
          </a:prstGeom>
          <a:solidFill>
            <a:srgbClr val="FCF5E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8" y="5888736"/>
            <a:ext cx="5074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What it penalizes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9048" y="5998464"/>
            <a:ext cx="4983480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42336"/>
                </a:solidFill>
                <a:latin typeface="Aptos"/>
              </a:rPr>
              <a:t>Fuel, Queue, Idle docks, Delay, Schedule delay, CO2, Rejected requests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6565392"/>
            <a:ext cx="106070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46275"/>
                </a:solidFill>
                <a:latin typeface="Aptos"/>
              </a:rPr>
              <a:t>This is the audience-facing summary. The next slide shows the actual symbolic formulas used in the simulator.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D8BD"/>
                </a:solidFill>
                <a:latin typeface="Aptos"/>
              </a:rPr>
              <a:t>REWARDS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AF2"/>
                </a:solidFill>
                <a:latin typeface="Aptos Display"/>
              </a:rPr>
              <a:t>Actual reward formulas used in the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E7D8BD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972800" cy="5440680"/>
          </a:xfrm>
          <a:prstGeom prst="roundRect">
            <a:avLst/>
          </a:prstGeom>
          <a:solidFill>
            <a:srgbClr val="FCF8F2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Symbolic 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417320"/>
            <a:ext cx="104241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1581912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Vessel 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28800"/>
            <a:ext cx="99669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336"/>
                </a:solidFill>
                <a:latin typeface="Courier New"/>
              </a:rPr>
              <a:t>r_V(t) = r_arr·1[arrived] + r_on·1[on_time]
          − (w_fΔfuel + w_dΔdelay + w_eΔCO2 + w_tΔtransit + w_sΔsched)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182112"/>
            <a:ext cx="10424160" cy="1325880"/>
          </a:xfrm>
          <a:prstGeom prst="roundRect">
            <a:avLst/>
          </a:prstGeom>
          <a:solidFill>
            <a:srgbClr val="F8FDFC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346704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Port reward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93592"/>
            <a:ext cx="996696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336"/>
                </a:solidFill>
                <a:latin typeface="Courier New"/>
              </a:rPr>
              <a:t>r_P(t) = r_acc·accepted + r_srv·served
          − r_rej·rejected − (queue·dt + w_idle·idle_docks)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663440"/>
            <a:ext cx="104241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4828031"/>
            <a:ext cx="10058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Coordinator 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074920"/>
            <a:ext cx="9966960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336"/>
                </a:solidFill>
                <a:latin typeface="Courier New"/>
              </a:rPr>
              <a:t>r_C(t) = r_acc·accepted + r_srv·served + r_util·avg_occupied
          − (w_fΔfuel + w_qavg_queue + w_iavg_idle + w_dΔdelay + w_sΔsched + w_eΔCO2 + r_rej·rejected)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6473952"/>
            <a:ext cx="10424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46275"/>
                </a:solidFill>
                <a:latin typeface="Aptos"/>
              </a:rPr>
              <a:t>Δ terms are per-step increments; accepted, rejected, and served are event counts for the current step.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D8BD"/>
                </a:solidFill>
                <a:latin typeface="Aptos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AF2"/>
                </a:solidFill>
                <a:latin typeface="Aptos Display"/>
              </a:rPr>
              <a:t>What changed since March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E7D8BD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971800" cy="1965960"/>
          </a:xfrm>
          <a:prstGeom prst="roundRect">
            <a:avLst/>
          </a:prstGeom>
          <a:solidFill>
            <a:srgbClr val="EBF7F5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Corrected vessel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74519"/>
            <a:ext cx="2560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2336"/>
                </a:solidFill>
                <a:latin typeface="Aptos"/>
              </a:rPr>
              <a:t>No more collapse to constant minimum speed.
Requested arrival times now become real schedule deadlines.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325880"/>
            <a:ext cx="2971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8807" y="1490472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Fuel and stalling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7" y="1874519"/>
            <a:ext cx="2560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2336"/>
                </a:solidFill>
                <a:latin typeface="Aptos"/>
              </a:rPr>
              <a:t>Fuel exhaustion now causes true mid-route stalling.
Departures are checked for fuel feasibility.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325880"/>
            <a:ext cx="2971800" cy="1965960"/>
          </a:xfrm>
          <a:prstGeom prst="roundRect">
            <a:avLst/>
          </a:prstGeom>
          <a:solidFill>
            <a:srgbClr val="FDF3E8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1490472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Port service realism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1874519"/>
            <a:ext cx="2560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2336"/>
                </a:solidFill>
                <a:latin typeface="Aptos"/>
              </a:rPr>
              <a:t>Ports track actual vessel IDs.
Refueling happens after real service completion.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94760"/>
            <a:ext cx="2971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959352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Reward redesign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343400"/>
            <a:ext cx="2560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2336"/>
                </a:solidFill>
                <a:latin typeface="Aptos"/>
              </a:rPr>
              <a:t>Rewards moved from mostly aggregate penalties to event-driven, role-specific signals.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3794760"/>
            <a:ext cx="2971800" cy="1965960"/>
          </a:xfrm>
          <a:prstGeom prst="roundRect">
            <a:avLst/>
          </a:prstGeom>
          <a:solidFill>
            <a:srgbClr val="EBF7F5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78807" y="3959352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Validation variants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7" y="4343400"/>
            <a:ext cx="2560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2336"/>
                </a:solidFill>
                <a:latin typeface="Aptos"/>
              </a:rPr>
              <a:t>Added single_mission and ground_truth as controlled debugging modes.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3794760"/>
            <a:ext cx="2971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3959352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4343400"/>
            <a:ext cx="2560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2336"/>
                </a:solidFill>
                <a:latin typeface="Aptos"/>
              </a:rPr>
              <a:t>Action logs, event logs, reward components, and confidence diagnostics were added.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D8BD"/>
                </a:solidFill>
                <a:latin typeface="Aptos"/>
              </a:rPr>
              <a:t>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AF2"/>
                </a:solidFill>
                <a:latin typeface="Aptos Display"/>
              </a:rPr>
              <a:t>Why the current results are more trustworthy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E7D8BD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977639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36118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Transparency upgrades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4290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42336"/>
                </a:solidFill>
                <a:latin typeface="Aptos"/>
              </a:rPr>
              <a:t>Grouped plots separate aggregate, vessel, port, and coordinator behavior.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336"/>
                </a:solidFill>
                <a:latin typeface="Aptos"/>
              </a:rPr>
              <a:t>Per-step eval trace, action log, and event log are available.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336"/>
                </a:solidFill>
                <a:latin typeface="Aptos"/>
              </a:rPr>
              <a:t>Reward-component decomposition shows which terms dominate.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336"/>
                </a:solidFill>
                <a:latin typeface="Aptos"/>
              </a:rPr>
              <a:t>Policy-confidence metrics make near-uniform coordinator behavior easier to diagnose.</a:t>
            </a:r>
          </a:p>
        </p:txBody>
      </p:sp>
      <p:pic>
        <p:nvPicPr>
          <p:cNvPr id="9" name="Picture 8" descr="2026-03-31_role_reward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91640"/>
            <a:ext cx="6263640" cy="2834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74920" y="4572000"/>
            <a:ext cx="6080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46275"/>
                </a:solidFill>
                <a:latin typeface="Aptos"/>
              </a:rPr>
              <a:t>Role-specific reward traces over one evaluation episode. We show all three because vessel, port, and coordinator each optimize a different part of the task.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5074920"/>
            <a:ext cx="1783080" cy="841248"/>
          </a:xfrm>
          <a:prstGeom prst="roundRect">
            <a:avLst/>
          </a:prstGeom>
          <a:solidFill>
            <a:srgbClr val="F8FDFC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5202936"/>
            <a:ext cx="1563624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TRACE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5440680"/>
            <a:ext cx="1563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385C"/>
                </a:solidFill>
                <a:latin typeface="Aptos"/>
              </a:rPr>
              <a:t>eval_trace.csv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5074920"/>
            <a:ext cx="1965960" cy="841248"/>
          </a:xfrm>
          <a:prstGeom prst="roundRect">
            <a:avLst/>
          </a:prstGeom>
          <a:solidFill>
            <a:srgbClr val="F8FDFC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6328" y="5202936"/>
            <a:ext cx="1746504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ACTION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5440680"/>
            <a:ext cx="174650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385C"/>
                </a:solidFill>
                <a:latin typeface="Aptos"/>
              </a:rPr>
              <a:t>eval_action_trace.csv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5074920"/>
            <a:ext cx="1783080" cy="841248"/>
          </a:xfrm>
          <a:prstGeom prst="roundRect">
            <a:avLst/>
          </a:prstGeom>
          <a:solidFill>
            <a:srgbClr val="F8FDFC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5167" y="5202936"/>
            <a:ext cx="1563624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EVENT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7" y="5440680"/>
            <a:ext cx="1563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385C"/>
                </a:solidFill>
                <a:latin typeface="Aptos"/>
              </a:rPr>
              <a:t>eval_event_log.csv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D8BD"/>
                </a:solidFill>
                <a:latin typeface="Aptos"/>
              </a:rPr>
              <a:t>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AF2"/>
                </a:solidFill>
                <a:latin typeface="Aptos Display"/>
              </a:rPr>
              <a:t>Current recommended baseline: transit-rebalanced 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E7D8BD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4297680" cy="5440680"/>
          </a:xfrm>
          <a:prstGeom prst="round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AF2"/>
                </a:solidFill>
                <a:latin typeface="Aptos Display"/>
              </a:rPr>
              <a:t>Preferred operating balance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40280"/>
            <a:ext cx="1600200" cy="960120"/>
          </a:xfrm>
          <a:prstGeom prst="roundRect">
            <a:avLst/>
          </a:prstGeom>
          <a:solidFill>
            <a:srgbClr val="22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2350008"/>
            <a:ext cx="13716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7D8BD"/>
                </a:solidFill>
                <a:latin typeface="Aptos"/>
              </a:rPr>
              <a:t>TOTAL 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624328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AF2"/>
                </a:solidFill>
                <a:latin typeface="Aptos Display"/>
              </a:rPr>
              <a:t>-923.38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240280"/>
            <a:ext cx="1600200" cy="960120"/>
          </a:xfrm>
          <a:prstGeom prst="roundRect">
            <a:avLst/>
          </a:prstGeom>
          <a:solidFill>
            <a:srgbClr val="22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350008"/>
            <a:ext cx="13716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7D8BD"/>
                </a:solidFill>
                <a:latin typeface="Aptos"/>
              </a:rPr>
              <a:t>ON-TIME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2624328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AF2"/>
                </a:solidFill>
                <a:latin typeface="Aptos Display"/>
              </a:rPr>
              <a:t>0.928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520440"/>
            <a:ext cx="1600200" cy="960120"/>
          </a:xfrm>
          <a:prstGeom prst="roundRect">
            <a:avLst/>
          </a:prstGeom>
          <a:solidFill>
            <a:srgbClr val="22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7" y="3630168"/>
            <a:ext cx="13716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7D8BD"/>
                </a:solidFill>
                <a:latin typeface="Aptos"/>
              </a:rPr>
              <a:t>COMPLETED ARRIVALS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7" y="3904488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AF2"/>
                </a:solidFill>
                <a:latin typeface="Aptos Display"/>
              </a:rPr>
              <a:t>26.8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3520440"/>
            <a:ext cx="1600200" cy="960120"/>
          </a:xfrm>
          <a:prstGeom prst="roundRect">
            <a:avLst/>
          </a:prstGeom>
          <a:solidFill>
            <a:srgbClr val="22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3630168"/>
            <a:ext cx="13716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7D8BD"/>
                </a:solidFill>
                <a:latin typeface="Aptos"/>
              </a:rPr>
              <a:t>VESSELS 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3904488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AF2"/>
                </a:solidFill>
                <a:latin typeface="Aptos Display"/>
              </a:rPr>
              <a:t>36.2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800600"/>
            <a:ext cx="1600200" cy="960120"/>
          </a:xfrm>
          <a:prstGeom prst="roundRect">
            <a:avLst/>
          </a:prstGeom>
          <a:solidFill>
            <a:srgbClr val="22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7" y="4910328"/>
            <a:ext cx="13716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7D8BD"/>
                </a:solidFill>
                <a:latin typeface="Aptos"/>
              </a:rPr>
              <a:t>DOCK UTILIZATION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7" y="5184648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AF2"/>
                </a:solidFill>
                <a:latin typeface="Aptos Display"/>
              </a:rPr>
              <a:t>0.28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4800600"/>
            <a:ext cx="1600200" cy="960120"/>
          </a:xfrm>
          <a:prstGeom prst="roundRect">
            <a:avLst/>
          </a:prstGeom>
          <a:solidFill>
            <a:srgbClr val="224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7208" y="4910328"/>
            <a:ext cx="13716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7D8BD"/>
                </a:solidFill>
                <a:latin typeface="Aptos"/>
              </a:rPr>
              <a:t>OPS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7208" y="5184648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AF2"/>
                </a:solidFill>
                <a:latin typeface="Aptos Display"/>
              </a:rPr>
              <a:t>$1.330M</a:t>
            </a:r>
          </a:p>
        </p:txBody>
      </p:sp>
      <p:pic>
        <p:nvPicPr>
          <p:cNvPr id="26" name="Picture 25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17320"/>
            <a:ext cx="612648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D8BD"/>
                </a:solidFill>
                <a:latin typeface="Aptos"/>
              </a:rPr>
              <a:t>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AF2"/>
                </a:solidFill>
                <a:latin typeface="Aptos Display"/>
              </a:rPr>
              <a:t>Continuous task vs. single-mission validation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E7D8BD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349240" cy="4434840"/>
          </a:xfrm>
          <a:prstGeom prst="roundRect">
            <a:avLst/>
          </a:prstGeom>
          <a:solidFill>
            <a:srgbClr val="F5FAFC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36192"/>
            <a:ext cx="49834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Continuous + ground truth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" y="1874519"/>
            <a:ext cx="493776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2020824"/>
            <a:ext cx="3429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EVAL TOTAL REWARD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0253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4385C"/>
                </a:solidFill>
                <a:latin typeface="Aptos"/>
              </a:rPr>
              <a:t>-673.99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" y="2441448"/>
            <a:ext cx="4937760" cy="493776"/>
          </a:xfrm>
          <a:prstGeom prst="roundRect">
            <a:avLst/>
          </a:prstGeom>
          <a:solidFill>
            <a:srgbClr val="FAF8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2587752"/>
            <a:ext cx="3429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ON-TIME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569464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4385C"/>
                </a:solidFill>
                <a:latin typeface="Aptos"/>
              </a:rPr>
              <a:t>0.759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3008376"/>
            <a:ext cx="493776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3" y="3154680"/>
            <a:ext cx="3429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COMPLETED ARRIVALS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36392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4385C"/>
                </a:solidFill>
                <a:latin typeface="Aptos"/>
              </a:rPr>
              <a:t>14.8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" y="3575304"/>
            <a:ext cx="4937760" cy="493776"/>
          </a:xfrm>
          <a:prstGeom prst="roundRect">
            <a:avLst/>
          </a:prstGeom>
          <a:solidFill>
            <a:srgbClr val="FAF8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721608"/>
            <a:ext cx="3429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VESSELS 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703320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4385C"/>
                </a:solidFill>
                <a:latin typeface="Aptos"/>
              </a:rPr>
              <a:t>24.2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" y="4142232"/>
            <a:ext cx="493776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3" y="4288536"/>
            <a:ext cx="3429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MISSION SUCCESS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4270248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4385C"/>
                </a:solidFill>
                <a:latin typeface="Aptos"/>
              </a:rPr>
              <a:t>0.0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" y="4709160"/>
            <a:ext cx="4937760" cy="493776"/>
          </a:xfrm>
          <a:prstGeom prst="roundRect">
            <a:avLst/>
          </a:prstGeom>
          <a:solidFill>
            <a:srgbClr val="FAF8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3" y="4855464"/>
            <a:ext cx="3429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TRACE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83717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4385C"/>
                </a:solidFill>
                <a:latin typeface="Aptos"/>
              </a:rPr>
              <a:t>37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371600"/>
            <a:ext cx="5349240" cy="4434840"/>
          </a:xfrm>
          <a:prstGeom prst="roundRect">
            <a:avLst/>
          </a:prstGeom>
          <a:solidFill>
            <a:srgbClr val="FDF3E8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1536192"/>
            <a:ext cx="49834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Single mission + ground truth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7648" y="1874519"/>
            <a:ext cx="493776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2020824"/>
            <a:ext cx="3429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EVAL TOTAL REWARD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85248" y="200253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2B7A78"/>
                </a:solidFill>
                <a:latin typeface="Aptos"/>
              </a:rPr>
              <a:t>-481.51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7648" y="2441448"/>
            <a:ext cx="4937760" cy="493776"/>
          </a:xfrm>
          <a:prstGeom prst="roundRect">
            <a:avLst/>
          </a:prstGeom>
          <a:solidFill>
            <a:srgbClr val="FAF8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2587752"/>
            <a:ext cx="3429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ON-TIME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5248" y="2569464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4385C"/>
                </a:solidFill>
                <a:latin typeface="Aptos"/>
              </a:rPr>
              <a:t>0.575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27648" y="3008376"/>
            <a:ext cx="493776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3154680"/>
            <a:ext cx="3429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COMPLETED ARRIVALS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85248" y="3136392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4385C"/>
                </a:solidFill>
                <a:latin typeface="Aptos"/>
              </a:rPr>
              <a:t>8.0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7648" y="3575304"/>
            <a:ext cx="4937760" cy="493776"/>
          </a:xfrm>
          <a:prstGeom prst="roundRect">
            <a:avLst/>
          </a:prstGeom>
          <a:solidFill>
            <a:srgbClr val="FAF8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3721608"/>
            <a:ext cx="3429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VESSELS SERVED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85248" y="3703320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14385C"/>
                </a:solidFill>
                <a:latin typeface="Aptos"/>
              </a:rPr>
              <a:t>9.4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27648" y="4142232"/>
            <a:ext cx="493776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5664" y="4288536"/>
            <a:ext cx="3429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MISSION SUCCESS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5248" y="4270248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2B7A78"/>
                </a:solidFill>
                <a:latin typeface="Aptos"/>
              </a:rPr>
              <a:t>1.0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27648" y="4709160"/>
            <a:ext cx="4937760" cy="493776"/>
          </a:xfrm>
          <a:prstGeom prst="roundRect">
            <a:avLst/>
          </a:prstGeom>
          <a:solidFill>
            <a:srgbClr val="FAF8F4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4" y="4855464"/>
            <a:ext cx="34290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46275"/>
                </a:solidFill>
                <a:latin typeface="Aptos"/>
              </a:rPr>
              <a:t>TRACE STEPS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85248" y="4837176"/>
            <a:ext cx="914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2B7A78"/>
                </a:solidFill>
                <a:latin typeface="Aptos"/>
              </a:rPr>
              <a:t>24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989320"/>
            <a:ext cx="10972800" cy="868680"/>
          </a:xfrm>
          <a:prstGeom prst="roundRect">
            <a:avLst/>
          </a:prstGeom>
          <a:solidFill>
            <a:srgbClr val="FDF3E8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" y="615391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Takeaway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6345936"/>
            <a:ext cx="10469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42336"/>
                </a:solidFill>
                <a:latin typeface="Aptos"/>
              </a:rPr>
              <a:t>The simplified benchmark is easier to complete and gives a cleaner success signal, but the continuous setting still has higher throughput and remains the real target environment.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4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7D8BD"/>
                </a:solidFill>
                <a:latin typeface="Apto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AF2"/>
                </a:solidFill>
                <a:latin typeface="Aptos Display"/>
              </a:rPr>
              <a:t>What is simplified, and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E7D8BD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1031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1. Keep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77440"/>
            <a:ext cx="1783079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336"/>
                </a:solidFill>
                <a:latin typeface="Aptos"/>
              </a:rPr>
              <a:t>Use transit-rebalanced v3 as the working continuous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12" y="1828800"/>
            <a:ext cx="2103120" cy="2743200"/>
          </a:xfrm>
          <a:prstGeom prst="roundRect">
            <a:avLst/>
          </a:prstGeom>
          <a:solidFill>
            <a:srgbClr val="EBF7F5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99339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2. Use the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2377440"/>
            <a:ext cx="1783079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336"/>
                </a:solidFill>
                <a:latin typeface="Aptos"/>
              </a:rPr>
              <a:t>Use single_mission + ground_truth as the controlled validation benchmark.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21224" y="1828800"/>
            <a:ext cx="21031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2392" y="199339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3. Compare across seeds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5816" y="2377440"/>
            <a:ext cx="1783079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336"/>
                </a:solidFill>
                <a:latin typeface="Aptos"/>
              </a:rPr>
              <a:t>Run short multi-seed comparisons in both settings.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88936" y="1828800"/>
            <a:ext cx="2103120" cy="2743200"/>
          </a:xfrm>
          <a:prstGeom prst="roundRect">
            <a:avLst/>
          </a:prstGeom>
          <a:solidFill>
            <a:srgbClr val="FDF3E8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199339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4. Reintroduce uncertainty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3527" y="2377440"/>
            <a:ext cx="1783079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336"/>
                </a:solidFill>
                <a:latin typeface="Aptos"/>
              </a:rPr>
              <a:t>Bring back imperfect forecasting after validating control behavior.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1828800"/>
            <a:ext cx="21031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DD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57816" y="199339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385C"/>
                </a:solidFill>
                <a:latin typeface="Aptos Display"/>
              </a:rPr>
              <a:t>5. Decide on realism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377440"/>
            <a:ext cx="1783079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42336"/>
                </a:solidFill>
                <a:latin typeface="Aptos"/>
              </a:rPr>
              <a:t>Then decide whether to move to real ports and nautical distances.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663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46275"/>
                </a:solidFill>
                <a:latin typeface="Aptos"/>
              </a:rPr>
              <a:t>The short-term goal is not to replace the continuous environment, but to validate the control logic under cleaner conditions.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